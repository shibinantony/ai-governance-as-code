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9CE83-816E-B626-FDF0-0BC9536088B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73152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EXECUTIVE BRIEF · v0.1 · 21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Beyond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CADCFC"/>
                </a:solidFill>
                <a:latin typeface="Georgia"/>
              </a:rPr>
              <a:t>The Enterprise Imperative for AI</a:t>
            </a:r>
          </a:p>
          <a:p>
            <a:pPr algn="l"/>
            <a:r>
              <a:rPr sz="2600" b="0" i="0">
                <a:solidFill>
                  <a:srgbClr val="CADCFC"/>
                </a:solidFill>
                <a:latin typeface="Georgia"/>
              </a:rPr>
              <a:t>Policy-as-Code in BFSI &amp; Pharma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892040"/>
            <a:ext cx="512064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Shibin Antony Boban — Principal AI Architect, AI Governance &amp; Responsible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Personal working paper · CC BY 4.0 (text) · Apache-2.0 (code)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280160"/>
            <a:ext cx="3108960" cy="11887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0" y="1280160"/>
            <a:ext cx="73152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1417320"/>
            <a:ext cx="27889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Georgia"/>
              </a:rPr>
              <a:t>"Deterministic control</a:t>
            </a:r>
          </a:p>
          <a:p>
            <a:pPr algn="l"/>
            <a:r>
              <a:rPr sz="1300" b="0" i="1">
                <a:solidFill>
                  <a:srgbClr val="FFFFFF"/>
                </a:solidFill>
                <a:latin typeface="Georgia"/>
              </a:rPr>
              <a:t>over non-deterministic</a:t>
            </a:r>
          </a:p>
          <a:p>
            <a:pPr algn="l"/>
            <a:r>
              <a:rPr sz="1300" b="0" i="1">
                <a:solidFill>
                  <a:srgbClr val="FFFFFF"/>
                </a:solidFill>
                <a:latin typeface="Georgia"/>
              </a:rPr>
              <a:t>systems."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 · THE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B3D91"/>
                </a:solidFill>
                <a:latin typeface="Georgia"/>
              </a:rPr>
              <a:t>Hallucination is the symptom.</a:t>
            </a:r>
          </a:p>
          <a:p>
            <a:pPr algn="l"/>
            <a:r>
              <a:rPr sz="3200" b="1" i="0">
                <a:solidFill>
                  <a:srgbClr val="0B3D91"/>
                </a:solidFill>
                <a:latin typeface="Georgia"/>
              </a:rPr>
              <a:t>Governance is the disease.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The wrong question boards keep 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9436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"How do we stop hallucinations?"</a:t>
            </a:r>
          </a:p>
          <a:p>
            <a:pPr algn="l"/>
            <a:endParaRPr sz="13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That framing is why enterprise AI programmes stall.</a:t>
            </a:r>
          </a:p>
          <a:p>
            <a:pPr algn="l"/>
            <a:endParaRPr sz="13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real risk in BFSI and Pharma is not a wrong answer on one prompt. It is catastrophic compliance failure, unbounded P&amp;L liability, and an inability to prove to a regulator why the decision was allowed to happen at all.</a:t>
            </a:r>
          </a:p>
          <a:p>
            <a:pPr algn="l"/>
            <a:endParaRPr sz="1300" b="0" i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Boards, CROs and Heads of Quality need one thing: deterministic control over non-deterministic systems.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286000"/>
            <a:ext cx="4846320" cy="40233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228600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THE REFRAME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788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B3D91"/>
                </a:solidFill>
                <a:latin typeface="Georgia"/>
              </a:rPr>
              <a:t>From symptom to system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0" y="3429000"/>
            <a:ext cx="457200" cy="4572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107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From filtering to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Guardrails stop tokens. Policy proves decisions.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4343400"/>
            <a:ext cx="457200" cy="4572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3251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From documents to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61772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Static PDFs cannot be examined. Signed policies can.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0" y="5257800"/>
            <a:ext cx="457200" cy="4572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2395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From audit to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53212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Post-facto review is over. Enforcement moves inline.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762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A66"/>
                </a:solidFill>
                <a:latin typeface="Calibri"/>
              </a:rPr>
              <a:t>Beyond Hallucination · Policy-as-Code &amp; Governance-as-Code · S. A. Boban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A66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 · 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B3D91"/>
                </a:solidFill>
                <a:latin typeface="Georgia"/>
              </a:rPr>
              <a:t>Two layers. Both non-negotiable.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21945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09728" cy="2194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GOVERNANCE-AS-CODE —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1">
                <a:solidFill>
                  <a:srgbClr val="1A1A1A"/>
                </a:solidFill>
                <a:latin typeface="Georgia"/>
              </a:rPr>
              <a:t>Every model, every change, every incident — as a signed file in Git.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B3D91"/>
                </a:solidFill>
                <a:latin typeface="Calibri"/>
              </a:rPr>
              <a:t>PRE-FLIGHT (BUILD)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Model registration, risk tiering, ATLAS + OWASP threat map — before containerisation.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B3D91"/>
                </a:solidFill>
                <a:latin typeface="Calibri"/>
              </a:rPr>
              <a:t>IN-FLIGHT (RUNTIME)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632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Semantic routers and guardrails at the AI gateway, evaluated in milliseconds.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432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B3D91"/>
                </a:solidFill>
                <a:latin typeface="Calibri"/>
              </a:rPr>
              <a:t>POST-FLIGHT (AUDIT)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632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Immutable WORM logs mapped clause-by-clause to the regulation that governs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11247120" cy="2194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109728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POLICY-AS-CODE —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  <a:latin typeface="Georgia"/>
              </a:rPr>
              <a:t>Subjective legal language becomes binary logical gates.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74920"/>
            <a:ext cx="5212080" cy="960120"/>
          </a:xfrm>
          <a:prstGeom prst="rect">
            <a:avLst/>
          </a:prstGeom>
          <a:solidFill>
            <a:srgbClr val="081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1389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Calibri"/>
              </a:rPr>
              <a:t>PHARMA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"No off-label drug advice" → runtime check against approved-label DB; output blocked before user sees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074920"/>
            <a:ext cx="5212080" cy="960120"/>
          </a:xfrm>
          <a:prstGeom prst="rect">
            <a:avLst/>
          </a:prstGeom>
          <a:solidFill>
            <a:srgbClr val="081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51389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Calibri"/>
              </a:rPr>
              <a:t>BFSI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406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"No adverse credit decision &gt; ₹25L without human review" → hard-stop, signed, logged, mapped to SR 11-7 &amp; EU AI Act Art. 14.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762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A66"/>
                </a:solidFill>
                <a:latin typeface="Calibri"/>
              </a:rPr>
              <a:t>Beyond Hallucination · Policy-as-Code &amp; Governance-as-Code · S. A. Boban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A66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 · P&amp;L IMPACT &amp; BLAST-RADIUS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B3D91"/>
                </a:solidFill>
                <a:latin typeface="Georgia"/>
              </a:rPr>
              <a:t>The cost of getting this wrong now</a:t>
            </a:r>
          </a:p>
          <a:p>
            <a:pPr algn="l"/>
            <a:r>
              <a:rPr sz="2600" b="1" i="0">
                <a:solidFill>
                  <a:srgbClr val="0B3D91"/>
                </a:solidFill>
                <a:latin typeface="Georgia"/>
              </a:rPr>
              <a:t>dwarfs the cost of doing it right.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577840" cy="21031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103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B3D91"/>
                </a:solidFill>
                <a:latin typeface="Georgia"/>
              </a:rPr>
              <a:t>€35M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OR 7% OF GLOBAL TURNOVER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Maximum EU AI Act fine — Article 99. High-risk obligations bite from 2 August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577840" cy="21031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73152" cy="2103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B3D91"/>
                </a:solidFill>
                <a:latin typeface="Georgia"/>
              </a:rP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632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3D91"/>
                </a:solidFill>
                <a:latin typeface="Calibri"/>
              </a:rPr>
              <a:t>OF BANKS FEEL AI-READY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Only one in four financial institutions expresses confidence in AI compliance readiness — while ~50% of the model inventory is now AI/ML.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11292840" cy="1874519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WHAT PaC + GaC ACTUALLY BUYS THE ENTERPRISE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910328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8006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Cost of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006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Time-to-market for regulated AI features shifts from quarters to weeks.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321808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212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Risk containment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21208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Drift, prompt-injection and agent misbehaviour are contained before they reach a customer.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733288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623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Regulatory defensibility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62356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"Trust us, we have a policy" becomes "here is the rule that fired, when, and its full test history."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762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A66"/>
                </a:solidFill>
                <a:latin typeface="Calibri"/>
              </a:rPr>
              <a:t>Beyond Hallucination · Policy-as-Code &amp; Governance-as-Code · S. A. Boban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A66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04 · THE STRATEGIC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THE ERA OF EXPERIMENTAL AI IS 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The next enterprise offering is not a better model,</a:t>
            </a:r>
          </a:p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nor another guardrail SDK.</a:t>
            </a:r>
          </a:p>
          <a:p>
            <a:pPr algn="l"/>
            <a:endParaRPr sz="2800" b="1" i="0">
              <a:solidFill>
                <a:srgbClr val="FFFFFF"/>
              </a:solidFill>
              <a:latin typeface="Georgia"/>
            </a:endParaRPr>
          </a:p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It is the infrastructure that lets a hundred-billion-</a:t>
            </a:r>
          </a:p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parameter model operate safely inside a highly</a:t>
            </a:r>
          </a:p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regulated P&amp;L reality.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892040"/>
            <a:ext cx="365760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Georgia"/>
              </a:rPr>
              <a:t>That infrastructure is Policy-as-Code and Governance-as-Code.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The moat is not the engine. It is the regulation-mapped control library the enterprise runs on top of 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762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A66"/>
                </a:solidFill>
                <a:latin typeface="Calibri"/>
              </a:rPr>
              <a:t>Beyond Hallucination · Policy-as-Code &amp; Governance-as-Code · S. A. Boban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A66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05 · WHAT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B3D91"/>
                </a:solidFill>
                <a:latin typeface="Georgia"/>
              </a:rPr>
              <a:t>The choice is not whether to move.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55A66"/>
                </a:solidFill>
                <a:latin typeface="Georgia"/>
              </a:rPr>
              <a:t>It is whether the policy library will be yours — or a hyperscaler’s — by the time the regulator arrives.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92840" cy="11887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73152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READ THE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8892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The full v0.1 thesis: reference architecture, BFSI and Pharma policy packs, 90-day roadmap, honest limitations.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432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0B3D91"/>
                </a:solidFill>
                <a:latin typeface="Calibri"/>
              </a:rPr>
              <a:t>../docs/thesis-v0.1.md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11292840" cy="11887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73152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94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ENGAGE THE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11480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Issues and discussion are open. The hardest problem is the control mapping — it improves fastest when practitioners disagree in public.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690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0B3D91"/>
                </a:solidFill>
                <a:latin typeface="Calibri"/>
              </a:rPr>
              <a:t>github.com/shibinantony/antony/ai-governance-as-code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11292840" cy="11887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73152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10235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20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3D91"/>
                </a:solidFill>
                <a:latin typeface="Calibri"/>
              </a:rPr>
              <a:t>CRITIQUE A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44068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If you work in Model Risk, AI Governance or Regulated AI Quality — challenge a Rego rule, propose a crosswalk, open an issue.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53949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0B3D91"/>
                </a:solidFill>
                <a:latin typeface="Calibri"/>
              </a:rPr>
              <a:t>CC BY 4.0 · Apache-2.0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035040"/>
            <a:ext cx="12191695" cy="502920"/>
          </a:xfrm>
          <a:prstGeom prst="rect">
            <a:avLst/>
          </a:prstGeom>
          <a:solidFill>
            <a:srgbClr val="081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Shibin Antony Boban — Principal AI Architect · Personal working paper · Not legal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762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55A66"/>
                </a:solidFill>
                <a:latin typeface="Calibri"/>
              </a:rPr>
              <a:t>Beyond Hallucination · Policy-as-Code &amp; Governance-as-Code · S. A. Boban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55A66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Shibin Antony</dc:creator>
  <cp:keywords/>
  <dc:description>generated using python-pptx</dc:description>
  <cp:lastModifiedBy>Shibin Antony</cp:lastModifiedBy>
  <cp:revision>3</cp:revision>
  <dcterms:created xsi:type="dcterms:W3CDTF">2026-07-23T11:56:11Z</dcterms:created>
  <dcterms:modified xsi:type="dcterms:W3CDTF">2026-07-23T11:57:31Z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2026-07-23T11:57:11Z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7863ab82-d69a-4222-9298-fb1fe88a1ca5</vt:lpwstr>
  </property>
  <property fmtid="{D5CDD505-2E9C-101B-9397-08002B2CF9AE}" pid="8" name="MSIP_Label_556dfe78-8a37-4fb5-b4aa-b92b97e18d15_ContentBits">
    <vt:lpwstr>1</vt:lpwstr>
  </property>
  <property fmtid="{D5CDD505-2E9C-101B-9397-08002B2CF9AE}" pid="9" name="MSIP_Label_556dfe78-8a37-4fb5-b4aa-b92b97e18d15_Tag">
    <vt:lpwstr>10, 3, 0, 2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Classification: Internal</vt:lpwstr>
  </property>
</Properties>
</file>